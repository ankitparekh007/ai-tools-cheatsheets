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34ee22670940c1" /><Relationship Type="http://schemas.openxmlformats.org/officeDocument/2006/relationships/extended-properties" Target="/docProps/app.xml" Id="R2004ce933b0b4bac" /><Relationship Type="http://schemas.openxmlformats.org/officeDocument/2006/relationships/officeDocument" Target="/ppt/presentation.xml" Id="R6b0b11d544424e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20aeb505554582"/>
  </p:sldMasterIdLst>
  <p:notesMasterIdLst>
    <p:notesMasterId xmlns:r="http://schemas.openxmlformats.org/officeDocument/2006/relationships" r:id="R2f8bc35a6e5b471e"/>
  </p:notesMasterIdLst>
  <p:sldIdLst>
    <p:sldId xmlns:r="http://schemas.openxmlformats.org/officeDocument/2006/relationships" id="256" r:id="Rcb0f5badf0f04b64"/>
    <p:sldId xmlns:r="http://schemas.openxmlformats.org/officeDocument/2006/relationships" id="257" r:id="R0ec9687582794293"/>
    <p:sldId xmlns:r="http://schemas.openxmlformats.org/officeDocument/2006/relationships" id="258" r:id="R6b0d3159785d488a"/>
    <p:sldId xmlns:r="http://schemas.openxmlformats.org/officeDocument/2006/relationships" id="259" r:id="R3f726b6400084bc1"/>
    <p:sldId xmlns:r="http://schemas.openxmlformats.org/officeDocument/2006/relationships" id="260" r:id="R61cf1dfa68404a11"/>
    <p:sldId xmlns:r="http://schemas.openxmlformats.org/officeDocument/2006/relationships" id="261" r:id="R3cad3a1e742c4fde"/>
    <p:sldId xmlns:r="http://schemas.openxmlformats.org/officeDocument/2006/relationships" id="262" r:id="Rf81199f068d54397"/>
  </p:sldIdLst>
  <p:sldSz cx="10287000" cy="12858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6f8fe1f09e4e47" /><Relationship Type="http://schemas.openxmlformats.org/officeDocument/2006/relationships/slideMaster" Target="/ppt/slideMasters/slideMaster1.xml" Id="R1520aeb505554582" /><Relationship Type="http://schemas.openxmlformats.org/officeDocument/2006/relationships/notesMaster" Target="/ppt/notesMasters/notesMaster1.xml" Id="R2f8bc35a6e5b471e" /><Relationship Type="http://schemas.openxmlformats.org/officeDocument/2006/relationships/presProps" Target="/ppt/presProps.xml" Id="R4c86188d7f4d4ea4" /><Relationship Type="http://schemas.openxmlformats.org/officeDocument/2006/relationships/tableStyles" Target="/ppt/tableStyles.xml" Id="R56b3a655709348ca" /><Relationship Type="http://schemas.openxmlformats.org/officeDocument/2006/relationships/slide" Target="/ppt/slides/slide1.xml" Id="Rcb0f5badf0f04b64" /><Relationship Type="http://schemas.openxmlformats.org/officeDocument/2006/relationships/slide" Target="/ppt/slides/slide2.xml" Id="R0ec9687582794293" /><Relationship Type="http://schemas.openxmlformats.org/officeDocument/2006/relationships/slide" Target="/ppt/slides/slide3.xml" Id="R6b0d3159785d488a" /><Relationship Type="http://schemas.openxmlformats.org/officeDocument/2006/relationships/slide" Target="/ppt/slides/slide4.xml" Id="R3f726b6400084bc1" /><Relationship Type="http://schemas.openxmlformats.org/officeDocument/2006/relationships/slide" Target="/ppt/slides/slide5.xml" Id="R61cf1dfa68404a11" /><Relationship Type="http://schemas.openxmlformats.org/officeDocument/2006/relationships/slide" Target="/ppt/slides/slide6.xml" Id="R3cad3a1e742c4fde" /><Relationship Type="http://schemas.openxmlformats.org/officeDocument/2006/relationships/slide" Target="/ppt/slides/slide7.xml" Id="Rf81199f068d543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6e0157e98d49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4e7607fd974cbe" /><Relationship Type="http://schemas.openxmlformats.org/officeDocument/2006/relationships/notesMaster" Target="/ppt/notesMasters/notesMaster1.xml" Id="Re9a9291d0cb14e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21609d19c54544" /><Relationship Type="http://schemas.openxmlformats.org/officeDocument/2006/relationships/notesMaster" Target="/ppt/notesMasters/notesMaster1.xml" Id="Rb51683ff2e9a44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cdce1a15a24bb4" /><Relationship Type="http://schemas.openxmlformats.org/officeDocument/2006/relationships/notesMaster" Target="/ppt/notesMasters/notesMaster1.xml" Id="R74a2f3179e6742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0de8a944ed47e7" /><Relationship Type="http://schemas.openxmlformats.org/officeDocument/2006/relationships/notesMaster" Target="/ppt/notesMasters/notesMaster1.xml" Id="R54f7aabf404a4c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fb21bc041b462b" /><Relationship Type="http://schemas.openxmlformats.org/officeDocument/2006/relationships/notesMaster" Target="/ppt/notesMasters/notesMaster1.xml" Id="R92f74b8ac79d48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5673a09f5f4bd9" /><Relationship Type="http://schemas.openxmlformats.org/officeDocument/2006/relationships/notesMaster" Target="/ppt/notesMasters/notesMaster1.xml" Id="Rda72ebfac97146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0581a8daa940b8" /><Relationship Type="http://schemas.openxmlformats.org/officeDocument/2006/relationships/notesMaster" Target="/ppt/notesMasters/notesMaster1.xml" Id="R66a8a21512e64e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40b3ce9c064d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0cdb42d2ac43d1" /><Relationship Type="http://schemas.openxmlformats.org/officeDocument/2006/relationships/slideLayout" Target="/ppt/slideLayouts/slideLayout1.xml" Id="R6a69206e43a948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69206e43a948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c45e95a694983" /><Relationship Type="http://schemas.openxmlformats.org/officeDocument/2006/relationships/image" Target="/ppt/media/image.png" Id="R66b230eb74a349f3" /><Relationship Type="http://schemas.openxmlformats.org/officeDocument/2006/relationships/image" Target="/ppt/media/image.svg" Id="Rf25da591bfc54336" /><Relationship Type="http://schemas.openxmlformats.org/officeDocument/2006/relationships/notesSlide" Target="/ppt/notesSlides/notesSlide1.xml" Id="R3ddde13fb3c84f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f735f14dc47ed" /><Relationship Type="http://schemas.openxmlformats.org/officeDocument/2006/relationships/notesSlide" Target="/ppt/notesSlides/notesSlide2.xml" Id="Ree84d5d1400343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6e19219e140bc" /><Relationship Type="http://schemas.openxmlformats.org/officeDocument/2006/relationships/notesSlide" Target="/ppt/notesSlides/notesSlide3.xml" Id="R97626e981f1b4d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c7672f3d64503" /><Relationship Type="http://schemas.openxmlformats.org/officeDocument/2006/relationships/notesSlide" Target="/ppt/notesSlides/notesSlide4.xml" Id="Red28b7966d3741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1f7981a0c4390" /><Relationship Type="http://schemas.openxmlformats.org/officeDocument/2006/relationships/notesSlide" Target="/ppt/notesSlides/notesSlide5.xml" Id="Rb72ddb8a2cd84d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f57d1a145407a" /><Relationship Type="http://schemas.openxmlformats.org/officeDocument/2006/relationships/notesSlide" Target="/ppt/notesSlides/notesSlide6.xml" Id="R1eeca0b7b72e48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62b7875254d50" /><Relationship Type="http://schemas.openxmlformats.org/officeDocument/2006/relationships/image" Target="/ppt/media/image2.png" Id="Rb870759c54844c5e" /><Relationship Type="http://schemas.openxmlformats.org/officeDocument/2006/relationships/notesSlide" Target="/ppt/notesSlides/notesSlide7.xml" Id="Rc34e11c71bbf41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87C02B-3731-4E58-8B1D-2380796D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-1066800"/>
            <a:ext cx="3200400" cy="3200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7AA05-AD33-42D7-ADA5-35D0104E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" y="104584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E5C6A-F396-4E8F-8888-909756AA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880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41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79F5E-B52A-419B-9692-B24933F4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2476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A"/>
                </a:solidFill>
                <a:latin typeface="Aptos"/>
                <a:ea typeface="Aptos"/>
                <a:cs typeface="Aptos"/>
              </a:rPr>
              <a:t>OPEN SOURCE HANDBOOK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230eb74a349f3">
            <a:extLst>
              <a:ext uri="{96DAC541-7B7A-43D3-8B79-37D633B846F1}">
                <asvg:svgBlip xmlns:asvg="http://schemas.microsoft.com/office/drawing/2016/SVG/main" r:embed="Rf25da591bfc543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161925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FD835-BD6C-48D3-A8CC-E60C1E8B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33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Tools Cheatsheets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3F5E4-16D8-499F-8693-76C8FD8B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I Built an Open-Source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AI Coding Handbook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D045C-BA4B-49FB-834F-F3BDC183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Claude Code  •  Codex  •  Cursor  •  Copilot  •  MCP  •  AGENTS.md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F6FD6-EBE4-41CE-8EC6-9F82027C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210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B6C4D6"/>
                </a:solidFill>
                <a:latin typeface="Aptos"/>
                <a:ea typeface="Aptos"/>
                <a:cs typeface="Aptos"/>
              </a:rPr>
              <a:t>One vendor-neutral, security-conscious reference for tool selection, repository instructions, workflows, and team adoption.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269C2-6272-455B-871B-51E4FE50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1962150" cy="3276600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132438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0D7A0-FE4C-4505-BDA4-8ACA4C0E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1">
                <a:solidFill>
                  <a:srgbClr val="5EEAD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EEAD4"/>
                </a:solidFill>
                <a:latin typeface="Aptos"/>
                <a:ea typeface="Aptos"/>
                <a:cs typeface="Aptos"/>
              </a:rPr>
              <a:t>Why swipe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E5E63-4EF1-4096-9B70-A249D1A0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95750"/>
            <a:ext cx="13144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425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Tool fit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425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AGENTS.md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425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Review workflow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425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MCP risk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425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Team rollout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FCDAF-050E-4AF5-BABA-0539B535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9728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For developers and engineering teams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F69B3C-FAA7-4E2C-AE8B-DBF7A85F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539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4D6"/>
                </a:solidFill>
                <a:latin typeface="Aptos"/>
                <a:ea typeface="Aptos"/>
                <a:cs typeface="Aptos"/>
              </a:rPr>
              <a:t>AI Tools Cheatsheets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8BB53-E4A7-4131-9A0F-B71D8FCD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21539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20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4D6"/>
                </a:solidFill>
                <a:latin typeface="Aptos"/>
                <a:ea typeface="Aptos"/>
                <a:cs typeface="Aptos"/>
              </a:rPr>
              <a:t>1/7</a:t>
            </a:r>
          </a:p>
        </p:txBody>
      </p:sp>
    </p:spTree>
    <p:extLst>
      <p:ext uri="{BB962C8B-B14F-4D97-AF65-F5344CB8AC3E}">
        <p14:creationId xmlns:p14="http://schemas.microsoft.com/office/powerpoint/2010/main" val="5307384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A338AA-6D8B-4642-8CBB-C1C467F6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-1066800"/>
            <a:ext cx="3200400" cy="3200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9C4E7-BF4E-48FE-902B-233F053C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" y="104584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D573C-E41C-40B6-8150-5D8E0713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880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41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68F50-6438-475C-9AB0-043E075C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1619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A"/>
                </a:solidFill>
                <a:latin typeface="Aptos"/>
                <a:ea typeface="Aptos"/>
                <a:cs typeface="Aptos"/>
              </a:rPr>
              <a:t>TOOL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38082-0626-47F9-99F2-D7E84A67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42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Which AI Coding Tool Fits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42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Your Workflow?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808B7-8242-492D-9960-075AA82B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80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B6C4D6"/>
                </a:solidFill>
                <a:latin typeface="Aptos"/>
                <a:ea typeface="Aptos"/>
                <a:cs typeface="Aptos"/>
              </a:rPr>
              <a:t>Condensed from the handbook's comparison matrix. The full matrix adds team-fit, verification, and configuration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13543-E284-4E6A-9E6A-F0ADDC48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8801100" cy="48006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32438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18E51-2295-4E48-814D-DD1AB7AE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1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6C4D6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C3311-B34B-4F83-89C1-3E5B3E85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43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1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6C4D6"/>
                </a:solidFill>
                <a:latin typeface="Aptos"/>
                <a:ea typeface="Aptos"/>
                <a:cs typeface="Aptos"/>
              </a:rPr>
              <a:t>Best suited for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A8FF5-9FC0-4F9E-82FF-03C8335F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05350"/>
            <a:ext cx="834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1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F7289-EF11-49B3-8583-EFFD889A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1">
                <a:solidFill>
                  <a:srgbClr val="5EEAD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EAD4"/>
                </a:solidFill>
                <a:latin typeface="Aptos"/>
                <a:ea typeface="Aptos"/>
                <a:cs typeface="Aptos"/>
              </a:rPr>
              <a:t>Claude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F36E3-42BA-4887-8016-F4907C28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3870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Deep terminal and repository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7C33E-9985-4F9A-A8E3-95AD9C8C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05450"/>
            <a:ext cx="834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15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1BA4BF-3C0B-4727-9468-63D5DBC6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76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OpenAI Codex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95C15-AC96-4017-9903-331CBD09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3880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OpenAI-first agentic development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F6226-D784-4028-8009-C8304035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05550"/>
            <a:ext cx="834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15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F003C-0E18-4914-B2ED-5C372ABB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77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Cursor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2FB68-7888-4A6B-BD15-EB1BB4C4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3890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IDE-first AI coding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09F9D-0F9E-4C17-AA98-3B94ABEA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105650"/>
            <a:ext cx="834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15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23B20-9D24-463B-9029-6E529E7E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277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GitHub Copilot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BE9061-7BFA-423E-82C3-86CF9917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23900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GitHub-centered engineering teams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625A8F-9B9B-4D61-A278-68072AA8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905750"/>
            <a:ext cx="834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15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000461-F487-433F-99E7-D38A1D8E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077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1">
                <a:solidFill>
                  <a:srgbClr val="C4B5F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4B5FD"/>
                </a:solidFill>
                <a:latin typeface="Aptos"/>
                <a:ea typeface="Aptos"/>
                <a:cs typeface="Aptos"/>
              </a:rPr>
              <a:t>Open workflows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62BD4A-1A9E-4746-89CA-A234FF8C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803910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Provider flexibility and 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04ECFF-FADA-4771-AD1D-40634EB8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Compare by workflow, security, integrations, and team fit -&gt;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DB0C6E-9CC6-4ECF-A7BB-B5F33D6B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539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4D6"/>
                </a:solidFill>
                <a:latin typeface="Aptos"/>
                <a:ea typeface="Aptos"/>
                <a:cs typeface="Aptos"/>
              </a:rPr>
              <a:t>AI Tools Cheatsheets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295FD6-8D29-4319-990E-E4AD9330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21539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20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4D6"/>
                </a:solidFill>
                <a:latin typeface="Aptos"/>
                <a:ea typeface="Aptos"/>
                <a:cs typeface="Aptos"/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4184777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05461B-430C-4DDD-8F07-BDF9E231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-1066800"/>
            <a:ext cx="3200400" cy="3200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6B4C6-CEDA-412A-9898-CB5EEEDC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" y="104584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7A9F4-1311-442F-B936-826D19CF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880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41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F8907-5DAF-4EE2-8A78-C75B6D45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1333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A"/>
                </a:solidFill>
                <a:latin typeface="Aptos"/>
                <a:ea typeface="Aptos"/>
                <a:cs typeface="Aptos"/>
              </a:rPr>
              <a:t>AGENTS.MD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0CE25-3C89-4A5F-A832-C26A846F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42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Your Coding Agent Needs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42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Repository Instructions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0C3FD-8263-4A05-8AB4-C7DA8F7D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B6C4D6"/>
                </a:solidFill>
                <a:latin typeface="Aptos"/>
                <a:ea typeface="Aptos"/>
                <a:cs typeface="Aptos"/>
              </a:rPr>
              <a:t>The handbook positions AGENTS.md as the main shared repository instruction file when teams want one durable source of truth across coding agents.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67723-C693-4D0F-A05B-16CD2854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30480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22" indent="-10">
              <a:lnSpc>
                <a:spcPct val="122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Architecture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Build and test commands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Coding standards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Restricted files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Security boundaries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Definition of done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3E4A5-47D5-410C-99DD-B092CAB6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5295900" cy="43434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32438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37184-765D-4CCA-9A4A-76CEC9D7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52950"/>
            <a:ext cx="44767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F8FAFC"/>
                </a:solidFill>
                <a:latin typeface="Cascadia Code"/>
                <a:ea typeface="Cascadia Code"/>
                <a:cs typeface="Cascadia Code"/>
              </a:defRPr>
            </a:pPr>
            <a:r>
              <a:rPr sz="1650">
                <a:solidFill>
                  <a:srgbClr val="F8FAFC"/>
                </a:solidFill>
                <a:latin typeface="Cascadia Code"/>
                <a:ea typeface="Cascadia Code"/>
                <a:cs typeface="Cascadia Code"/>
              </a:rPr>
              <a:t># AGENTS.md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F8FAFC"/>
                </a:solidFill>
                <a:latin typeface="Cascadia Code"/>
                <a:ea typeface="Cascadia Code"/>
                <a:cs typeface="Cascadia Code"/>
              </a:defRPr>
            </a:pPr>
            <a:r>
              <a:rPr sz="1650">
                <a:solidFill>
                  <a:srgbClr val="F8FAFC"/>
                </a:solidFill>
                <a:latin typeface="Cascadia Code"/>
                <a:ea typeface="Cascadia Code"/>
                <a:cs typeface="Cascadia Code"/>
              </a:rPr>
              <a:t>## Build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F8FAFC"/>
                </a:solidFill>
                <a:latin typeface="Cascadia Code"/>
                <a:ea typeface="Cascadia Code"/>
                <a:cs typeface="Cascadia Code"/>
              </a:defRPr>
            </a:pPr>
            <a:r>
              <a:rPr sz="1650">
                <a:solidFill>
                  <a:srgbClr val="F8FAFC"/>
                </a:solidFill>
                <a:latin typeface="Cascadia Code"/>
                <a:ea typeface="Cascadia Code"/>
                <a:cs typeface="Cascadia Code"/>
              </a:rPr>
              <a:t>npm ci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F8FAFC"/>
                </a:solidFill>
                <a:latin typeface="Cascadia Code"/>
                <a:ea typeface="Cascadia Code"/>
                <a:cs typeface="Cascadia Code"/>
              </a:defRPr>
            </a:pPr>
            <a:r>
              <a:rPr sz="1650">
                <a:solidFill>
                  <a:srgbClr val="F8FAFC"/>
                </a:solidFill>
                <a:latin typeface="Cascadia Code"/>
                <a:ea typeface="Cascadia Code"/>
                <a:cs typeface="Cascadia Code"/>
              </a:rPr>
              <a:t>npm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F8FAFC"/>
                </a:solidFill>
                <a:latin typeface="Cascadia Code"/>
                <a:ea typeface="Cascadia Code"/>
                <a:cs typeface="Cascadia Code"/>
              </a:defRPr>
            </a:pPr>
            <a:r>
              <a:rPr sz="1650">
                <a:solidFill>
                  <a:srgbClr val="F8FAFC"/>
                </a:solidFill>
                <a:latin typeface="Cascadia Code"/>
                <a:ea typeface="Cascadia Code"/>
                <a:cs typeface="Cascadia Code"/>
              </a:rPr>
              <a:t>## Rules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F8FAFC"/>
                </a:solidFill>
                <a:latin typeface="Cascadia Code"/>
                <a:ea typeface="Cascadia Code"/>
                <a:cs typeface="Cascadia Code"/>
              </a:defRPr>
            </a:pPr>
            <a:r>
              <a:rPr sz="1650">
                <a:solidFill>
                  <a:srgbClr val="F8FAFC"/>
                </a:solidFill>
                <a:latin typeface="Cascadia Code"/>
                <a:ea typeface="Cascadia Code"/>
                <a:cs typeface="Cascadia Code"/>
              </a:rPr>
              <a:t>- Follow existing architecture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F8FAFC"/>
                </a:solidFill>
                <a:latin typeface="Cascadia Code"/>
                <a:ea typeface="Cascadia Code"/>
                <a:cs typeface="Cascadia Code"/>
              </a:defRPr>
            </a:pPr>
            <a:r>
              <a:rPr sz="1650">
                <a:solidFill>
                  <a:srgbClr val="F8FAFC"/>
                </a:solidFill>
                <a:latin typeface="Cascadia Code"/>
                <a:ea typeface="Cascadia Code"/>
                <a:cs typeface="Cascadia Code"/>
              </a:rPr>
              <a:t>- Never expose secrets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F8FAFC"/>
                </a:solidFill>
                <a:latin typeface="Cascadia Code"/>
                <a:ea typeface="Cascadia Code"/>
                <a:cs typeface="Cascadia Code"/>
              </a:defRPr>
            </a:pPr>
            <a:r>
              <a:rPr sz="1650">
                <a:solidFill>
                  <a:srgbClr val="F8FAFC"/>
                </a:solidFill>
                <a:latin typeface="Cascadia Code"/>
                <a:ea typeface="Cascadia Code"/>
                <a:cs typeface="Cascadia Code"/>
              </a:rPr>
              <a:t>- Run focused tests before completion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D2E01-D6BF-4DD1-B275-3D7714B0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7439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B6C4D6"/>
                </a:solidFill>
                <a:latin typeface="Aptos"/>
                <a:ea typeface="Aptos"/>
                <a:cs typeface="Aptos"/>
              </a:rPr>
              <a:t>Keep it small and durable. The docs warn against turning AGENTS.md into a long architecture book or dumping ground.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8DA8B-6EF0-4805-99C3-4E895CC7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Give every coding agent the same repository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AADD8-ED0B-48AF-AF32-E544FF8D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539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4D6"/>
                </a:solidFill>
                <a:latin typeface="Aptos"/>
                <a:ea typeface="Aptos"/>
                <a:cs typeface="Aptos"/>
              </a:rPr>
              <a:t>AI Tools Cheatsheets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3A346-9130-414E-B83B-A9A28EA3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21539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20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4D6"/>
                </a:solidFill>
                <a:latin typeface="Aptos"/>
                <a:ea typeface="Aptos"/>
                <a:cs typeface="Aptos"/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8998721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219C3F-30C4-4EB8-9435-5AEDBA53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-1066800"/>
            <a:ext cx="3200400" cy="3200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84A99-8120-4140-BC67-3E937364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" y="104584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1BC84-F2BA-49F3-B278-26624EF2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880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41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A9BFF-85CF-4902-9291-D0574DE1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A"/>
                </a:solidFill>
                <a:latin typeface="Aptos"/>
                <a:ea typeface="Aptos"/>
                <a:cs typeface="Aptos"/>
              </a:rPr>
              <a:t>CODE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33DD2-3996-41B5-8B27-3CD11749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40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AI Should Follow Engineering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40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Process - Not Replace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DE4DD-CBA8-4C8A-B35A-BA2C66A9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B74C3-E92B-483F-A7CC-F65E2B6C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0711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7A80B-8A64-4FAA-A678-F3E83DC9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528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Inspect the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3754F-F01B-4622-9658-D5C2B095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5A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3F31C-4756-4890-809A-B2763B93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0B891-90A9-4EE7-94FD-22CC4642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0711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58A11-7BE7-4A64-876B-FBC9685A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053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List findings first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CDC13-0E14-4B64-9463-53469393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5A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F1D931-C134-4E1F-84EB-808BE3C8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CAE1F-4749-4265-914C-5DCD5775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0711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9FFA2-E472-473D-ABC6-29262C48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578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Separate facts from suspicions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524C84-8E50-4F9C-9677-9480E1BC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9600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5A7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66157A-849D-42DD-B612-B5F96092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29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0FA667-076D-4972-B8C4-18412D7C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960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0711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9FDD5-EA2C-4EEC-BDEC-45C3441A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6103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Validate high-risk findings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B69B6-D8E8-42E3-849E-C4913549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4850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5A7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A43CD7-86F3-4860-AB46-0E0ED9DD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81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B858DF-AEFE-4E54-B7F8-6F8E33C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485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0711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B7006D-4A81-4DB6-9D6D-E8194E15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5628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Run focused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772BD5-F00E-477E-B93D-785FFD30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0100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5A7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003D9A-050B-40E0-8EC9-1D1ACC38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34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FD2044-D79E-4842-816D-9679E0E3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6010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0711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04F902-51FE-4C0D-8CFA-06C42EFB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85153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Require human approval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EE9E8A-D396-4F22-85AE-968D8253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14800"/>
            <a:ext cx="3886200" cy="3638550"/>
          </a:xfrm>
          <a:prstGeom xmlns:a="http://schemas.openxmlformats.org/drawingml/2006/main" prst="roundRect">
            <a:avLst>
              <a:gd name="adj" fmla="val 6283"/>
            </a:avLst>
          </a:prstGeom>
          <a:solidFill xmlns:a="http://schemas.openxmlformats.org/drawingml/2006/main">
            <a:srgbClr val="132438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575950-1B09-4285-A213-63573A44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57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1">
                <a:solidFill>
                  <a:srgbClr val="5EEAD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EEAD4"/>
                </a:solidFill>
                <a:latin typeface="Aptos"/>
                <a:ea typeface="Aptos"/>
                <a:cs typeface="Aptos"/>
              </a:rPr>
              <a:t>Prompt card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480362-6C2A-486C-A2FF-A84CCF4D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91100"/>
            <a:ext cx="31432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F8FAFC"/>
                </a:solidFill>
                <a:latin typeface="Cascadia Code"/>
                <a:ea typeface="Cascadia Code"/>
                <a:cs typeface="Cascadia Code"/>
              </a:defRPr>
            </a:pPr>
            <a:r>
              <a:rPr sz="1800">
                <a:solidFill>
                  <a:srgbClr val="F8FAFC"/>
                </a:solidFill>
                <a:latin typeface="Cascadia Code"/>
                <a:ea typeface="Cascadia Code"/>
                <a:cs typeface="Cascadia Code"/>
              </a:rPr>
              <a:t>Review this diff for correctness, authorization risks,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F8FAFC"/>
                </a:solidFill>
                <a:latin typeface="Cascadia Code"/>
                <a:ea typeface="Cascadia Code"/>
                <a:cs typeface="Cascadia Code"/>
              </a:defRPr>
            </a:pPr>
            <a:r>
              <a:rPr sz="1800">
                <a:solidFill>
                  <a:srgbClr val="F8FAFC"/>
                </a:solidFill>
                <a:latin typeface="Cascadia Code"/>
                <a:ea typeface="Cascadia Code"/>
                <a:cs typeface="Cascadia Code"/>
              </a:rPr>
              <a:t>regressions and missing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F8FAFC"/>
                </a:solidFill>
                <a:latin typeface="Cascadia Code"/>
                <a:ea typeface="Cascadia Code"/>
                <a:cs typeface="Cascadia Code"/>
              </a:defRPr>
            </a:pPr>
            <a:r>
              <a:rPr sz="1800">
                <a:solidFill>
                  <a:srgbClr val="F8FAFC"/>
                </a:solidFill>
                <a:latin typeface="Cascadia Code"/>
                <a:ea typeface="Cascadia Code"/>
                <a:cs typeface="Cascadia Code"/>
              </a:rPr>
              <a:t>List findings by severity before summarizing.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568128-9191-4EAA-9193-FF9ED3C3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867650"/>
            <a:ext cx="352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B6C4D6"/>
                </a:solidFill>
                <a:latin typeface="Aptos"/>
                <a:ea typeface="Aptos"/>
                <a:cs typeface="Aptos"/>
              </a:rPr>
              <a:t>The handbook's team standard is findings-first review, with human reviewers owning correctness and merge approval.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7BDB0B-0793-4F90-BCB2-BD7BB79A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AI review is advisory. Humans own approval.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057269-D8EE-4BC9-906A-1F219953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539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4D6"/>
                </a:solidFill>
                <a:latin typeface="Aptos"/>
                <a:ea typeface="Aptos"/>
                <a:cs typeface="Aptos"/>
              </a:rPr>
              <a:t>AI Tools Cheatsheets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5CDD02-2C7A-40D5-B559-8A796C3C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21539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20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4D6"/>
                </a:solidFill>
                <a:latin typeface="Aptos"/>
                <a:ea typeface="Aptos"/>
                <a:cs typeface="Aptos"/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272469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BF63E0-C0C6-4C48-B986-4B046C9B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-1066800"/>
            <a:ext cx="3200400" cy="3200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6E2E9-A502-4D9D-B9C3-9AB46AB5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" y="104584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02B25-3626-48F7-B358-4ACC45EA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880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41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9FA5A-D764-4C35-81A2-C7CD07D6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A"/>
                </a:solidFill>
                <a:latin typeface="Aptos"/>
                <a:ea typeface="Aptos"/>
                <a:cs typeface="Aptos"/>
              </a:rPr>
              <a:t>MCP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4DB50-4108-42B7-BCB8-BF2304D7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42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MCP Servers Are Privileged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42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Integrations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54176-688E-41DD-BC34-F2B34A28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B6C4D6"/>
                </a:solidFill>
                <a:latin typeface="Aptos"/>
                <a:ea typeface="Aptos"/>
                <a:cs typeface="Aptos"/>
              </a:rPr>
              <a:t>The handbook frames MCP as powerful and risky because a connected agent can ask external systems for more context or trigger actions through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FA3A2-D944-42A0-9C2A-31C82683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4095750" cy="464820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32438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77419-AF8F-4A20-8290-A80FB2E6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43400"/>
            <a:ext cx="4095750" cy="464820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32438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5F90E-56EF-4834-A099-5E90F6B4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Before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21D21-D61C-4931-BECC-C9234FD1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81600"/>
            <a:ext cx="333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22" indent="-10">
              <a:lnSpc>
                <a:spcPct val="122000"/>
              </a:lnSpc>
              <a:buNone/>
              <a:defRPr sz="165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8FAFC"/>
                </a:solidFill>
                <a:latin typeface="Aptos"/>
                <a:ea typeface="Aptos"/>
                <a:cs typeface="Aptos"/>
              </a:rPr>
              <a:t>Identify the implementation and maintainer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65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8FAFC"/>
                </a:solidFill>
                <a:latin typeface="Aptos"/>
                <a:ea typeface="Aptos"/>
                <a:cs typeface="Aptos"/>
              </a:rPr>
              <a:t>Review requested permissions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65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8FAFC"/>
                </a:solidFill>
                <a:latin typeface="Aptos"/>
                <a:ea typeface="Aptos"/>
                <a:cs typeface="Aptos"/>
              </a:rPr>
              <a:t>Understand data access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65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8FAFC"/>
                </a:solidFill>
                <a:latin typeface="Aptos"/>
                <a:ea typeface="Aptos"/>
                <a:cs typeface="Aptos"/>
              </a:rPr>
              <a:t>Inspect credential handling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65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8FAFC"/>
                </a:solidFill>
                <a:latin typeface="Aptos"/>
                <a:ea typeface="Aptos"/>
                <a:cs typeface="Aptos"/>
              </a:rPr>
              <a:t>Define revocation steps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3B7B5-BF6F-4593-9C9E-A9F87AF2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86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1">
                <a:solidFill>
                  <a:srgbClr val="5EEAD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EAD4"/>
                </a:solidFill>
                <a:latin typeface="Aptos"/>
                <a:ea typeface="Aptos"/>
                <a:cs typeface="Aptos"/>
              </a:rPr>
              <a:t>Safer starting 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EEAC3-50B9-4AB1-AEC7-4F5D7081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81600"/>
            <a:ext cx="3276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22" indent="-10">
              <a:lnSpc>
                <a:spcPct val="122000"/>
              </a:lnSpc>
              <a:buNone/>
              <a:defRPr sz="165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8FAFC"/>
                </a:solidFill>
                <a:latin typeface="Aptos"/>
                <a:ea typeface="Aptos"/>
                <a:cs typeface="Aptos"/>
              </a:rPr>
              <a:t>Read-only access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65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8FAFC"/>
                </a:solidFill>
                <a:latin typeface="Aptos"/>
                <a:ea typeface="Aptos"/>
                <a:cs typeface="Aptos"/>
              </a:rPr>
              <a:t>Specific repositories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65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8FAFC"/>
                </a:solidFill>
                <a:latin typeface="Aptos"/>
                <a:ea typeface="Aptos"/>
                <a:cs typeface="Aptos"/>
              </a:rPr>
              <a:t>No unnecessary shell execution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65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8FAFC"/>
                </a:solidFill>
                <a:latin typeface="Aptos"/>
                <a:ea typeface="Aptos"/>
                <a:cs typeface="Aptos"/>
              </a:rPr>
              <a:t>Human approval for writes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65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8FAFC"/>
                </a:solidFill>
                <a:latin typeface="Aptos"/>
                <a:ea typeface="Aptos"/>
                <a:cs typeface="Aptos"/>
              </a:rPr>
              <a:t>Logged tool calls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43733-F98A-43E4-A50D-37945CB0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Treat MCP access like production access - not like a harmless plugin.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DF120-29E7-4052-A6D5-164B53E3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539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4D6"/>
                </a:solidFill>
                <a:latin typeface="Aptos"/>
                <a:ea typeface="Aptos"/>
                <a:cs typeface="Aptos"/>
              </a:rPr>
              <a:t>AI Tools Cheatsheets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C6F0B-992D-438B-BDC5-7BAB5B0B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21539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20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4D6"/>
                </a:solidFill>
                <a:latin typeface="Aptos"/>
                <a:ea typeface="Aptos"/>
                <a:cs typeface="Aptos"/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10725883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1A714D-4759-4499-83CA-91C27E4F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-1066800"/>
            <a:ext cx="3200400" cy="3200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24173-DD16-4AF5-AF80-9B133464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" y="104584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42E49-0B5A-400A-A23C-9BA000D6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880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41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19AA7-B1C3-497D-A56F-E140E63B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A"/>
                </a:solidFill>
                <a:latin typeface="Aptos"/>
                <a:ea typeface="Aptos"/>
                <a:cs typeface="Aptos"/>
              </a:rPr>
              <a:t>TEAM ROLLOUT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70DC7-4730-425A-A782-7A50C3B0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42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How Engineering Teams Can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42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Adopt AI Safely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2696B-C1A3-4E49-BD26-C3C6A4D9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828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B6C4D6"/>
                </a:solidFill>
                <a:latin typeface="Aptos"/>
                <a:ea typeface="Aptos"/>
                <a:cs typeface="Aptos"/>
              </a:rPr>
              <a:t>The rollout guide is phased: evaluate one tool for one workflow, run a time-boxed pilot, then expand only if the evidence says it is useful and safe.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25BE8-57A8-44E7-AC3E-8C79B096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600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A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A075D-B4D6-484C-BA8F-D3DCA8EF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33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1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6C4D6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5FE75-F478-45EE-B548-91EDABE3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76750"/>
            <a:ext cx="1600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A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F2D52-9CAA-4F50-AE83-FAFA2C8D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1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6C4D6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63E3C-BBB4-49B6-B891-CD2738B0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76750"/>
            <a:ext cx="1600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A"/>
                </a:solidFill>
                <a:latin typeface="Aptos"/>
                <a:ea typeface="Aptos"/>
                <a:cs typeface="Aptos"/>
              </a:rPr>
              <a:t>Secure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FB781-72C3-4629-ABCE-31D122E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33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1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6C4D6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A2C25-1517-4AC9-89FF-9929E565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76750"/>
            <a:ext cx="1600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A"/>
                </a:solidFill>
                <a:latin typeface="Aptos"/>
                <a:ea typeface="Aptos"/>
                <a:cs typeface="Aptos"/>
              </a:rPr>
              <a:t>Standardize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BECD7-ADEB-4BC4-BD17-01F849C6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1600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A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39154-FACC-4009-8014-9B46CA77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153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1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6C4D6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A2387-89F3-4140-8418-5CA7ADF3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096000"/>
            <a:ext cx="1600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A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D9B147-A4B6-4D13-9A5C-E142AA27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6153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1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6C4D6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9AF68A-B26E-42BC-9EA9-150DFA21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096000"/>
            <a:ext cx="1600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A"/>
                </a:solidFill>
                <a:latin typeface="Aptos"/>
                <a:ea typeface="Aptos"/>
                <a:cs typeface="Aptos"/>
              </a:rPr>
              <a:t>Govern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4F824D-240D-4C7A-B80E-56139D77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67600"/>
            <a:ext cx="8801100" cy="2609850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132438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ACE4EF-F6B5-4DB6-9402-1A6829F5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886700"/>
            <a:ext cx="8191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22" indent="-10">
              <a:lnSpc>
                <a:spcPct val="122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Select approved tools and target one workflow first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Add repository instructions and review shared prompts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Approve MCP servers and write access separately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Train a pilot group, measure quality, then expand with controls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2E9C5-792B-40FD-BA1A-CB0E37AA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Move from individual experimentation to governed team adoption.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F8FBA-BB48-43C9-B923-C2534D31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539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4D6"/>
                </a:solidFill>
                <a:latin typeface="Aptos"/>
                <a:ea typeface="Aptos"/>
                <a:cs typeface="Aptos"/>
              </a:rPr>
              <a:t>AI Tools Cheatsheets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3C4F1C-105C-4D07-B0CA-D13EE947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21539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20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4D6"/>
                </a:solidFill>
                <a:latin typeface="Aptos"/>
                <a:ea typeface="Aptos"/>
                <a:cs typeface="Aptos"/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1243256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8ADA11-BF11-4651-ACAF-B2C4E657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-1066800"/>
            <a:ext cx="3200400" cy="3200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12135-A476-4414-AF06-485F7F77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" y="104584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72928-2562-490D-B689-872A612F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880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41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32019-40E1-4A19-987F-4C2B4481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A"/>
                </a:solidFill>
                <a:latin typeface="Aptos"/>
                <a:ea typeface="Aptos"/>
                <a:cs typeface="Aptos"/>
              </a:rPr>
              <a:t>CALL TO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AAA73-F04B-401B-8FC0-4CDACCAE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5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Explore the Open-Source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45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Handbook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3E6F2-1F04-439C-B41E-F4912AF5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3429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22" indent="-10">
              <a:lnSpc>
                <a:spcPct val="122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Tool comparisons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Coding workflows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Prompts and templates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MCP security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Team governance</a:t>
            </a:r>
          </a:p>
          <a:p xmlns:a="http://schemas.openxmlformats.org/drawingml/2006/main">
            <a:pPr marL="22" indent="-10">
              <a:lnSpc>
                <a:spcPct val="122000"/>
              </a:lnSpc>
              <a:buNone/>
              <a:defRPr sz="18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8FAFC"/>
                </a:solidFill>
                <a:latin typeface="Aptos"/>
                <a:ea typeface="Aptos"/>
                <a:cs typeface="Aptos"/>
              </a:rPr>
              <a:t>Angular and Java guidance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F74E5-06C4-481D-B943-D2D7D9DC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38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0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Read it  •  Star it  •  Fork it  •  Contribute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9E7F0-9DDB-472E-9DE6-0689C6B1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2667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0759c54844c5e"/>
          <a:stretch xmlns:a="http://schemas.openxmlformats.org/drawingml/2006/main"/>
        </p:blipFill>
        <p:spPr>
          <a:xfrm xmlns:a="http://schemas.openxmlformats.org/drawingml/2006/main">
            <a:off x="6343650" y="3848100"/>
            <a:ext cx="2171700" cy="2171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0DC02-7070-48ED-9C9F-C74F2653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8001000" cy="20955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32438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54496-9F04-48FC-8D50-FA34A0D2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115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1">
                <a:solidFill>
                  <a:srgbClr val="5EEAD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EEAD4"/>
                </a:solidFill>
                <a:latin typeface="Aptos"/>
                <a:ea typeface="Aptos"/>
                <a:cs typeface="Aptos"/>
              </a:rPr>
              <a:t>Live handbook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9F52F-AB4D-48D8-84DD-6F09235B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4772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ankitparekh007.github.io/ai-tools-cheatsheets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E2188-DB51-49A5-93FD-5D566955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029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GitHub repository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DA1896-7DDB-4B96-A1D1-B0B66AEB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91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github.com/AnkitParekh007/ai-tools-cheatsheets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C374B-9E69-444B-AA9F-A12B3667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What should I expand next?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470EA-5AA4-47E6-814C-A358A85C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539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4D6"/>
                </a:solidFill>
                <a:latin typeface="Aptos"/>
                <a:ea typeface="Aptos"/>
                <a:cs typeface="Aptos"/>
              </a:rPr>
              <a:t>AI Tools Cheatsheets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63366-6BC1-44E7-86DF-828874C8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21539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200">
                <a:solidFill>
                  <a:srgbClr val="B6C4D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4D6"/>
                </a:solidFill>
                <a:latin typeface="Aptos"/>
                <a:ea typeface="Aptos"/>
                <a:cs typeface="Aptos"/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8166511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2026-07-15T14:00:24.7550000Z</dcterms:created>
  <dcterms:modified xsi:type="dcterms:W3CDTF">2026-07-15T14:00:24.7550000Z</dcterms:modified>
</coreProperties>
</file>